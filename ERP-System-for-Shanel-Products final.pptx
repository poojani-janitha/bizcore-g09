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4630400" cy="8229600"/>
  <p:notesSz cx="8229600" cy="146304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Gelasio" panose="020B0604020202020204" charset="0"/>
      <p:regular r:id="rId31"/>
    </p:embeddedFont>
    <p:embeddedFont>
      <p:font typeface="Lato" panose="020F0502020204030203" pitchFamily="34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792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540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sv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5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27.png"/><Relationship Id="rId7" Type="http://schemas.openxmlformats.org/officeDocument/2006/relationships/image" Target="../media/image30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4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4.svg"/><Relationship Id="rId5" Type="http://schemas.openxmlformats.org/officeDocument/2006/relationships/image" Target="../media/image33.svg"/><Relationship Id="rId10" Type="http://schemas.openxmlformats.org/officeDocument/2006/relationships/image" Target="../media/image38.png"/><Relationship Id="rId4" Type="http://schemas.openxmlformats.org/officeDocument/2006/relationships/image" Target="../media/image32.svg"/><Relationship Id="rId9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5.svg"/><Relationship Id="rId5" Type="http://schemas.openxmlformats.org/officeDocument/2006/relationships/image" Target="../media/image44.svg"/><Relationship Id="rId4" Type="http://schemas.openxmlformats.org/officeDocument/2006/relationships/image" Target="../media/image43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image" Target="../media/image14.png"/><Relationship Id="rId7" Type="http://schemas.openxmlformats.org/officeDocument/2006/relationships/image" Target="../media/image49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8.svg"/><Relationship Id="rId5" Type="http://schemas.openxmlformats.org/officeDocument/2006/relationships/image" Target="../media/image47.svg"/><Relationship Id="rId10" Type="http://schemas.openxmlformats.org/officeDocument/2006/relationships/image" Target="../media/image52.svg"/><Relationship Id="rId4" Type="http://schemas.openxmlformats.org/officeDocument/2006/relationships/image" Target="../media/image46.svg"/><Relationship Id="rId9" Type="http://schemas.openxmlformats.org/officeDocument/2006/relationships/image" Target="../media/image51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hyperlink" Target="https://platned.com/article/industry-best-practice-on-your-erp-implementation" TargetMode="External"/><Relationship Id="rId7" Type="http://schemas.openxmlformats.org/officeDocument/2006/relationships/hyperlink" Target="https://www.geeksforgeeks.org/software-engineering/agile-software-development-methodology-framework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4.png"/><Relationship Id="rId5" Type="http://schemas.openxmlformats.org/officeDocument/2006/relationships/hyperlink" Target="https://www.pmi.org/infinity?utm_job_number=267" TargetMode="Externa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0707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ERP System for Shanel Products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5790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Proposal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3273504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Course Code and Name: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ICT3183 – Group Project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Group Project ID and Group Name: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G9 – Bizcore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Supervisor Name: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</a:t>
            </a:r>
            <a:endParaRPr lang="en-US" sz="1750" dirty="0"/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January 29, 2026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0652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Group members 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108067" y="5594561"/>
            <a:ext cx="7556421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28700" lvl="2" indent="-342900" algn="l">
              <a:lnSpc>
                <a:spcPts val="2850"/>
              </a:lnSpc>
              <a:buSzPct val="100000"/>
              <a:buChar char="￭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TG/1356 - J.M.P.N.Jayaweera</a:t>
            </a:r>
            <a:endParaRPr lang="en-US" sz="1750" dirty="0"/>
          </a:p>
          <a:p>
            <a:pPr marL="1028700" lvl="2" indent="-342900" algn="l">
              <a:lnSpc>
                <a:spcPts val="2850"/>
              </a:lnSpc>
              <a:buSzPct val="100000"/>
              <a:buChar char="￭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TG/1379 - H.P.J.Jayarathna</a:t>
            </a:r>
            <a:endParaRPr lang="en-US" sz="1750" dirty="0"/>
          </a:p>
          <a:p>
            <a:pPr marL="1028700" lvl="2" indent="-342900" algn="l">
              <a:lnSpc>
                <a:spcPts val="2850"/>
              </a:lnSpc>
              <a:buSzPct val="100000"/>
              <a:buChar char="￭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TG/1410 - G.M.P.K.Premachandra</a:t>
            </a:r>
            <a:endParaRPr lang="en-US" sz="1750" dirty="0"/>
          </a:p>
          <a:p>
            <a:pPr marL="1028700" lvl="2" indent="-342900" algn="l">
              <a:lnSpc>
                <a:spcPts val="2850"/>
              </a:lnSpc>
              <a:buSzPct val="100000"/>
              <a:buChar char="￭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TG/1383 - A.L.S.Chamika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0E2274-58CF-4614-AD22-6407A7D8128F}"/>
              </a:ext>
            </a:extLst>
          </p:cNvPr>
          <p:cNvSpPr/>
          <p:nvPr/>
        </p:nvSpPr>
        <p:spPr>
          <a:xfrm>
            <a:off x="12543416" y="7508658"/>
            <a:ext cx="2086984" cy="6454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115567-995C-4523-8FDC-16C3042FF4BD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80053" y="564475"/>
            <a:ext cx="1428750" cy="296704"/>
          </a:xfrm>
          <a:prstGeom prst="roundRect">
            <a:avLst>
              <a:gd name="adj" fmla="val 19482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1483162" y="616029"/>
            <a:ext cx="1222534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CLIENT OVERVIEW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380053" y="913328"/>
            <a:ext cx="6107073" cy="537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 to Shanel Products</a:t>
            </a:r>
            <a:endParaRPr lang="en-US" sz="3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053" y="1793200"/>
            <a:ext cx="5725239" cy="57252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32489" y="1763911"/>
            <a:ext cx="572523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Client Details :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532489" y="2123242"/>
            <a:ext cx="5725239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</a:t>
            </a: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Name </a:t>
            </a: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- </a:t>
            </a: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R.A.B.Erandi Wansapala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32489" y="2434233"/>
            <a:ext cx="5725239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Business Name - Shanel Products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532489" y="2745224"/>
            <a:ext cx="5725239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Address - Udawela,Morahela,Balangoda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32489" y="3056215"/>
            <a:ext cx="5725239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Register Number - ර/ඉඹු/001924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532489" y="3367207"/>
            <a:ext cx="5725239" cy="193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Contact number - 0773174234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532489" y="3678198"/>
            <a:ext cx="57252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client,  owns and operates </a:t>
            </a:r>
            <a:r>
              <a:rPr lang="en-US" sz="13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Shanel Products</a:t>
            </a: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 a thriving wholesale business specializing in both in-house manufactured goods and supplier products.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7532489" y="4534376"/>
            <a:ext cx="2580442" cy="322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Operations: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7532489" y="4987171"/>
            <a:ext cx="5725239" cy="968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Fully manual processes for all operations.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Separate inventory for production and sales stock.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Serves both retail and wholesale customer segments.</a:t>
            </a:r>
            <a:endParaRPr lang="en-US" sz="1350" dirty="0"/>
          </a:p>
          <a:p>
            <a:pPr marL="342900" indent="-342900" algn="l">
              <a:lnSpc>
                <a:spcPts val="19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Employs 22 staff members, including managers and sales personnel.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7532489" y="6072587"/>
            <a:ext cx="5725239" cy="2419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9D20D1-6EAB-4150-B9D1-4C6B13BE8991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8606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Client Needs: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3148132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Managing sales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Employee attendance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Employee payroll calculation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84975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599521" y="3148132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 time notifications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customers 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supplier 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Financial and Account handling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Barcode reader and fingerprint integration 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C7E310-79F6-49F8-91CE-DC22D4CDBF5E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1063"/>
            <a:ext cx="896588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Introducing the Shanel ERP System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03471"/>
            <a:ext cx="1501854" cy="1501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2458" y="3003471"/>
            <a:ext cx="24299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ERP System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522458" y="3848219"/>
            <a:ext cx="242994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 robust Enterprise Resource Planning (ERP) system designed to streamline and integrate all core business processes at Shanel Products.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003471"/>
            <a:ext cx="1501854" cy="15018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64561" y="3003471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Purpose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6964561" y="3493889"/>
            <a:ext cx="2429947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enhance operational efficiency, reduce manual errors, and provide real-time insights across sales, inventory, finance and human resources.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003471"/>
            <a:ext cx="1501854" cy="15018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406664" y="3003471"/>
            <a:ext cx="242994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Support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1406664" y="3493889"/>
            <a:ext cx="2429947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Empowering Shanel Products with automated workflows and data-driven decision-making for sustainable growth.</a:t>
            </a:r>
            <a:endParaRPr lang="en-US" sz="17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202361-7931-4B3B-A976-E587D97E01A0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707" y="626983"/>
            <a:ext cx="8565594" cy="6274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Addressing Current Operational issues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2707" y="1698665"/>
            <a:ext cx="3587472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Current Manual Processes:</a:t>
            </a:r>
            <a:endParaRPr lang="en-US" sz="2350" dirty="0"/>
          </a:p>
        </p:txBody>
      </p:sp>
      <p:sp>
        <p:nvSpPr>
          <p:cNvPr id="4" name="Text 2"/>
          <p:cNvSpPr/>
          <p:nvPr/>
        </p:nvSpPr>
        <p:spPr>
          <a:xfrm>
            <a:off x="702707" y="2252782"/>
            <a:ext cx="7053262" cy="605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Shanel Products currently relies on entirely manual operations, leading to significant inefficiencies and potential for human error. This includes: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02707" y="3017996"/>
            <a:ext cx="7053262" cy="211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Handwritten sales orders and invoices.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Tracking  inventory manually through books 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Manual payroll calculations and attendance logs.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Lack of centralized reporting and data analysis.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Inefficient management of supplier and customer records. 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Difficulties in identifying low stocks ,expired products and raw materials 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 to analyze  financial data of the business properly.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02707" y="5315545"/>
            <a:ext cx="3011924" cy="376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702707" y="5869662"/>
            <a:ext cx="7053262" cy="3026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endParaRPr lang="en-US" sz="15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3412" y="1720929"/>
            <a:ext cx="5681782" cy="568178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509DE51-4309-48AC-B557-5C255FA0B1E3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26864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 Faced: 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647468"/>
            <a:ext cx="2845594" cy="37940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6966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/>
              <a:t>Attendance book</a:t>
            </a:r>
          </a:p>
        </p:txBody>
      </p:sp>
      <p:sp>
        <p:nvSpPr>
          <p:cNvPr id="5" name="Text 2"/>
          <p:cNvSpPr/>
          <p:nvPr/>
        </p:nvSpPr>
        <p:spPr>
          <a:xfrm>
            <a:off x="793790" y="627780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0406" y="1647468"/>
            <a:ext cx="2845594" cy="379404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0406" y="569666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/>
              <a:t>Stock record book</a:t>
            </a:r>
          </a:p>
        </p:txBody>
      </p:sp>
      <p:sp>
        <p:nvSpPr>
          <p:cNvPr id="8" name="Text 4"/>
          <p:cNvSpPr/>
          <p:nvPr/>
        </p:nvSpPr>
        <p:spPr>
          <a:xfrm>
            <a:off x="4200406" y="6277808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022" y="1647468"/>
            <a:ext cx="2845594" cy="21341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607022" y="4036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/>
              <a:t>Sale book</a:t>
            </a:r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13638" y="1647468"/>
            <a:ext cx="2845594" cy="213419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013638" y="40368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dirty="0"/>
              <a:t>Price list book</a:t>
            </a:r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3638" y="4646295"/>
            <a:ext cx="2845594" cy="213419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013638" y="7035641"/>
            <a:ext cx="284559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/>
              <a:t>Production record book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9882CB-8009-49D6-BF22-FE4E07F06484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383" y="634365"/>
            <a:ext cx="5839658" cy="695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Aim and Key Objectives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9383" y="1767483"/>
            <a:ext cx="13071634" cy="352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Our primary aim is to implement a comprehensive ERP system that fully automates Shanel Products' operations.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79383" y="2700338"/>
            <a:ext cx="4211479" cy="2347555"/>
          </a:xfrm>
          <a:prstGeom prst="roundRect">
            <a:avLst>
              <a:gd name="adj" fmla="val 623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9383" y="2669857"/>
            <a:ext cx="4211479" cy="121920"/>
          </a:xfrm>
          <a:prstGeom prst="roundRect">
            <a:avLst>
              <a:gd name="adj" fmla="val 76719"/>
            </a:avLst>
          </a:prstGeom>
          <a:solidFill>
            <a:srgbClr val="E5E5E0"/>
          </a:solidFill>
          <a:ln/>
        </p:spPr>
      </p:sp>
      <p:sp>
        <p:nvSpPr>
          <p:cNvPr id="6" name="Shape 4"/>
          <p:cNvSpPr/>
          <p:nvPr/>
        </p:nvSpPr>
        <p:spPr>
          <a:xfrm>
            <a:off x="2551093" y="2366367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5E5E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51475" y="2566749"/>
            <a:ext cx="267176" cy="26717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32510" y="3257074"/>
            <a:ext cx="3083004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Optimize Sales Processes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1032510" y="3736062"/>
            <a:ext cx="3705225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 order entry, invoicing, and sales reporting for faster and more accurate transactions.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5209461" y="2700338"/>
            <a:ext cx="4211479" cy="2347555"/>
          </a:xfrm>
          <a:prstGeom prst="roundRect">
            <a:avLst>
              <a:gd name="adj" fmla="val 623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209461" y="2669857"/>
            <a:ext cx="4211479" cy="121920"/>
          </a:xfrm>
          <a:prstGeom prst="roundRect">
            <a:avLst>
              <a:gd name="adj" fmla="val 76719"/>
            </a:avLst>
          </a:prstGeom>
          <a:solidFill>
            <a:srgbClr val="E5E5E0"/>
          </a:solidFill>
          <a:ln/>
        </p:spPr>
      </p:sp>
      <p:sp>
        <p:nvSpPr>
          <p:cNvPr id="12" name="Shape 9"/>
          <p:cNvSpPr/>
          <p:nvPr/>
        </p:nvSpPr>
        <p:spPr>
          <a:xfrm>
            <a:off x="6981170" y="2366367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5E5E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1552" y="2566749"/>
            <a:ext cx="267176" cy="2671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62588" y="3257074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Streamline Inventory</a:t>
            </a:r>
            <a:endParaRPr lang="en-US" sz="2150" dirty="0"/>
          </a:p>
        </p:txBody>
      </p:sp>
      <p:sp>
        <p:nvSpPr>
          <p:cNvPr id="15" name="Text 11"/>
          <p:cNvSpPr/>
          <p:nvPr/>
        </p:nvSpPr>
        <p:spPr>
          <a:xfrm>
            <a:off x="5462588" y="3736062"/>
            <a:ext cx="3705225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 real-time inventory tracking, ensuring optimal stock levels and reducing waste.</a:t>
            </a:r>
            <a:endParaRPr lang="en-US" sz="1750" dirty="0"/>
          </a:p>
        </p:txBody>
      </p:sp>
      <p:sp>
        <p:nvSpPr>
          <p:cNvPr id="16" name="Shape 12"/>
          <p:cNvSpPr/>
          <p:nvPr/>
        </p:nvSpPr>
        <p:spPr>
          <a:xfrm>
            <a:off x="9639538" y="2700338"/>
            <a:ext cx="4211479" cy="2347555"/>
          </a:xfrm>
          <a:prstGeom prst="roundRect">
            <a:avLst>
              <a:gd name="adj" fmla="val 623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9639538" y="2669857"/>
            <a:ext cx="4211479" cy="121920"/>
          </a:xfrm>
          <a:prstGeom prst="roundRect">
            <a:avLst>
              <a:gd name="adj" fmla="val 76719"/>
            </a:avLst>
          </a:prstGeom>
          <a:solidFill>
            <a:srgbClr val="E5E5E0"/>
          </a:solidFill>
          <a:ln/>
        </p:spPr>
      </p:sp>
      <p:sp>
        <p:nvSpPr>
          <p:cNvPr id="18" name="Shape 14"/>
          <p:cNvSpPr/>
          <p:nvPr/>
        </p:nvSpPr>
        <p:spPr>
          <a:xfrm>
            <a:off x="11411248" y="2366367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5E5E0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11630" y="2566749"/>
            <a:ext cx="267176" cy="26717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92665" y="3257074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Enhance HR &amp; Payroll</a:t>
            </a:r>
            <a:endParaRPr lang="en-US" sz="2150" dirty="0"/>
          </a:p>
        </p:txBody>
      </p:sp>
      <p:sp>
        <p:nvSpPr>
          <p:cNvPr id="21" name="Text 16"/>
          <p:cNvSpPr/>
          <p:nvPr/>
        </p:nvSpPr>
        <p:spPr>
          <a:xfrm>
            <a:off x="9892665" y="3736062"/>
            <a:ext cx="3705225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 employee attendance, leave management, and accurate payroll calculations.</a:t>
            </a:r>
            <a:endParaRPr lang="en-US" sz="1750" dirty="0"/>
          </a:p>
        </p:txBody>
      </p:sp>
      <p:sp>
        <p:nvSpPr>
          <p:cNvPr id="22" name="Shape 17"/>
          <p:cNvSpPr/>
          <p:nvPr/>
        </p:nvSpPr>
        <p:spPr>
          <a:xfrm>
            <a:off x="779383" y="5600462"/>
            <a:ext cx="6426518" cy="1994654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779383" y="5569982"/>
            <a:ext cx="6426518" cy="121920"/>
          </a:xfrm>
          <a:prstGeom prst="roundRect">
            <a:avLst>
              <a:gd name="adj" fmla="val 76719"/>
            </a:avLst>
          </a:prstGeom>
          <a:solidFill>
            <a:srgbClr val="E5E5E0"/>
          </a:solidFill>
          <a:ln/>
        </p:spPr>
      </p:sp>
      <p:sp>
        <p:nvSpPr>
          <p:cNvPr id="24" name="Shape 19"/>
          <p:cNvSpPr/>
          <p:nvPr/>
        </p:nvSpPr>
        <p:spPr>
          <a:xfrm>
            <a:off x="3658612" y="5266492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5E5E0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58994" y="5466874"/>
            <a:ext cx="267176" cy="2671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32510" y="6157198"/>
            <a:ext cx="278368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Improve Reporting</a:t>
            </a:r>
            <a:endParaRPr lang="en-US" sz="2150" dirty="0"/>
          </a:p>
        </p:txBody>
      </p:sp>
      <p:sp>
        <p:nvSpPr>
          <p:cNvPr id="27" name="Text 21"/>
          <p:cNvSpPr/>
          <p:nvPr/>
        </p:nvSpPr>
        <p:spPr>
          <a:xfrm>
            <a:off x="1032510" y="6636187"/>
            <a:ext cx="5920264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 comprehensive, real-time business insights through dynamic dashboards and reports.</a:t>
            </a:r>
            <a:endParaRPr lang="en-US" sz="1750" dirty="0"/>
          </a:p>
        </p:txBody>
      </p:sp>
      <p:sp>
        <p:nvSpPr>
          <p:cNvPr id="28" name="Shape 22"/>
          <p:cNvSpPr/>
          <p:nvPr/>
        </p:nvSpPr>
        <p:spPr>
          <a:xfrm>
            <a:off x="7424499" y="5600462"/>
            <a:ext cx="6426518" cy="1994654"/>
          </a:xfrm>
          <a:prstGeom prst="roundRect">
            <a:avLst>
              <a:gd name="adj" fmla="val 733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7424499" y="5569982"/>
            <a:ext cx="6426518" cy="121920"/>
          </a:xfrm>
          <a:prstGeom prst="roundRect">
            <a:avLst>
              <a:gd name="adj" fmla="val 76719"/>
            </a:avLst>
          </a:prstGeom>
          <a:solidFill>
            <a:srgbClr val="E5E5E0"/>
          </a:solidFill>
          <a:ln/>
        </p:spPr>
      </p:sp>
      <p:sp>
        <p:nvSpPr>
          <p:cNvPr id="30" name="Shape 24"/>
          <p:cNvSpPr/>
          <p:nvPr/>
        </p:nvSpPr>
        <p:spPr>
          <a:xfrm>
            <a:off x="10303728" y="5266492"/>
            <a:ext cx="668060" cy="668060"/>
          </a:xfrm>
          <a:prstGeom prst="roundRect">
            <a:avLst>
              <a:gd name="adj" fmla="val 136874"/>
            </a:avLst>
          </a:prstGeom>
          <a:solidFill>
            <a:srgbClr val="E5E5E0"/>
          </a:solidFill>
          <a:ln/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04110" y="5466874"/>
            <a:ext cx="267176" cy="26717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677626" y="6157198"/>
            <a:ext cx="4447461" cy="347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Financial and account management </a:t>
            </a:r>
            <a:endParaRPr lang="en-US" sz="2150" dirty="0"/>
          </a:p>
        </p:txBody>
      </p:sp>
      <p:sp>
        <p:nvSpPr>
          <p:cNvPr id="33" name="Text 26"/>
          <p:cNvSpPr/>
          <p:nvPr/>
        </p:nvSpPr>
        <p:spPr>
          <a:xfrm>
            <a:off x="7677626" y="6636187"/>
            <a:ext cx="5920264" cy="705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record and manage all financial transactions of the company such as sales, purchases and expences.</a:t>
            </a:r>
            <a:endParaRPr lang="en-US" sz="17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B4AA756-E772-4732-936A-D4DD85142C97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666" y="679133"/>
            <a:ext cx="7671197" cy="677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Defining the Project Boundaries</a:t>
            </a:r>
            <a:endParaRPr lang="en-US" sz="4250" dirty="0"/>
          </a:p>
        </p:txBody>
      </p:sp>
      <p:sp>
        <p:nvSpPr>
          <p:cNvPr id="3" name="Shape 1"/>
          <p:cNvSpPr/>
          <p:nvPr/>
        </p:nvSpPr>
        <p:spPr>
          <a:xfrm>
            <a:off x="602575" y="1667351"/>
            <a:ext cx="6604278" cy="5882997"/>
          </a:xfrm>
          <a:prstGeom prst="roundRect">
            <a:avLst>
              <a:gd name="adj" fmla="val 2653"/>
            </a:avLst>
          </a:prstGeom>
          <a:solidFill>
            <a:srgbClr val="E5E5E0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19269" y="1874520"/>
            <a:ext cx="3251835" cy="40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In-Scope Features: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819269" y="2488049"/>
            <a:ext cx="6170890" cy="440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Management: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invoicing, sales tracking,.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customers  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Customer data, interaction logs.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Management: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Real-time tracking, stock alerts, barcode scanning.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suppliers: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Supplier data, purchasing.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Employee Management: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Attendance, leave, fingerprint integration.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Payroll Calculation: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Automated salary processing.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Notifications: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Alerts for key events.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Advanced Financial Accounting (GL, AP, AR):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Focus is on operational ERP.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Intelligence (Advanced BI):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Basic reporting included, not deep analytics.</a:t>
            </a:r>
            <a:endParaRPr lang="en-US" sz="1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7258" y="1900357"/>
            <a:ext cx="2348508" cy="23485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87258" y="4481870"/>
            <a:ext cx="3338751" cy="406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Out-of-Scope Features: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587258" y="5095399"/>
            <a:ext cx="6292096" cy="67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Management: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Order processing.</a:t>
            </a:r>
            <a:endParaRPr lang="en-US" sz="1700" dirty="0"/>
          </a:p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7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E-commerce Platform Integration:</a:t>
            </a: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Not part of initial phase.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87258" y="5960235"/>
            <a:ext cx="6292096" cy="33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3BDA5E0-6B1E-439F-94F9-FE5071EE6EFF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445" y="843558"/>
            <a:ext cx="6741200" cy="625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Methodology and Architecture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45" y="1932265"/>
            <a:ext cx="2612946" cy="26129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445" y="4743807"/>
            <a:ext cx="3684508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 Methodology:</a:t>
            </a:r>
            <a:endParaRPr lang="en-US" sz="2350" dirty="0"/>
          </a:p>
        </p:txBody>
      </p:sp>
      <p:sp>
        <p:nvSpPr>
          <p:cNvPr id="5" name="Text 2"/>
          <p:cNvSpPr/>
          <p:nvPr/>
        </p:nvSpPr>
        <p:spPr>
          <a:xfrm>
            <a:off x="700445" y="5295543"/>
            <a:ext cx="6370677" cy="9040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 will adopt an </a:t>
            </a: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Agile development</a:t>
            </a: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approach, emphasizing iterative development, collaboration, and continuous feedback to ensure flexibility and client satisfaction.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00445" y="6358414"/>
            <a:ext cx="6370677" cy="90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Phases:</a:t>
            </a: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Planning, Design, Development, Testing, Deployment.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 &amp; Technologies:</a:t>
            </a: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React.js for frontend, Node.js with Express.js/python  for backend ,MySQL for database.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6898" y="1932265"/>
            <a:ext cx="6370677" cy="291548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233432" y="2310104"/>
            <a:ext cx="1409246" cy="176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Database Layer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12233432" y="2536366"/>
            <a:ext cx="1553302" cy="265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Persistent storage, backups, and optimized queries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7736370" y="3202039"/>
            <a:ext cx="1409247" cy="176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Application Layer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717580" y="3428302"/>
            <a:ext cx="1428037" cy="397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Business logic, microservices, and integration workflows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12233432" y="3763194"/>
            <a:ext cx="1409246" cy="176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Presentation Layer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233432" y="3989456"/>
            <a:ext cx="1553302" cy="265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 interface, responsive front-end, and API gateway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566898" y="5046345"/>
            <a:ext cx="5214104" cy="37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ERP System Architecture (High-Level):</a:t>
            </a:r>
            <a:endParaRPr lang="en-US" sz="2350" dirty="0"/>
          </a:p>
        </p:txBody>
      </p:sp>
      <p:sp>
        <p:nvSpPr>
          <p:cNvPr id="15" name="Text 11"/>
          <p:cNvSpPr/>
          <p:nvPr/>
        </p:nvSpPr>
        <p:spPr>
          <a:xfrm>
            <a:off x="7566898" y="5598081"/>
            <a:ext cx="6370677" cy="904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Presentation Layer:</a:t>
            </a: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User interface (Web/Mobile).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 Layer:</a:t>
            </a: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Business logic, API endpoints.</a:t>
            </a:r>
            <a:endParaRPr lang="en-US" sz="1550" dirty="0"/>
          </a:p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5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Layer:</a:t>
            </a:r>
            <a:r>
              <a:rPr lang="en-US" sz="15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Database management, data storage.</a:t>
            </a:r>
            <a:endParaRPr lang="en-US" sz="15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6DE8722-E790-46F9-9AE9-426A64D203F5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626513"/>
            <a:ext cx="818912" cy="426244"/>
          </a:xfrm>
          <a:prstGeom prst="roundRect">
            <a:avLst>
              <a:gd name="adj" fmla="val 17880"/>
            </a:avLst>
          </a:prstGeom>
          <a:solidFill>
            <a:srgbClr val="E8E8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694498"/>
            <a:ext cx="54673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43482"/>
            <a:ext cx="1033319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Empowering Shanel Products' Workforce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19242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proposed ERP system is meticulously designed to cater to the specific needs of Shanel Products' primary users.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810476"/>
            <a:ext cx="566976" cy="5669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3790" y="4660940"/>
            <a:ext cx="32121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Business Owner (Bhagya)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93790" y="515135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Gain comprehensive, real-time insights into overall business performance, enabling strategic decision-making and growth planning.</a:t>
            </a:r>
            <a:endParaRPr lang="en-US" sz="17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3810476"/>
            <a:ext cx="566976" cy="5669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235893" y="4660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235893" y="515135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Efficiently oversee daily operations, manage teams, track inventory, and monitor sales performance with integrated tools.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810476"/>
            <a:ext cx="566976" cy="56697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9677995" y="46609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Sellers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5151358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 sales order processing, access real-time stock availability, and improve customer interaction through a user-friendly interface.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553A32A-2AAB-4797-B9C0-E0B32FFF7244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6080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Timeline 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23210"/>
            <a:ext cx="13042583" cy="374546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D39FD6E1-0B63-45A1-A896-53C16839F918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9546" y="493157"/>
            <a:ext cx="4482346" cy="56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Milestones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546" y="1336834"/>
            <a:ext cx="12371308" cy="55670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93113" y="1596114"/>
            <a:ext cx="2164946" cy="33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Requirements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2993113" y="2025832"/>
            <a:ext cx="2164946" cy="47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 1–4: gather and finalize needs</a:t>
            </a:r>
            <a:endParaRPr lang="en-US" sz="10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41769" y="3084701"/>
            <a:ext cx="479530" cy="4795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34269" y="5651672"/>
            <a:ext cx="2176842" cy="3345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Design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134269" y="6081390"/>
            <a:ext cx="2176842" cy="71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 5–8: architecture and approvals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82925" y="4833311"/>
            <a:ext cx="479530" cy="47953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51635" y="1554481"/>
            <a:ext cx="2164946" cy="334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Development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251635" y="1984199"/>
            <a:ext cx="2164946" cy="479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 9–18: build core modules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35976" y="3037120"/>
            <a:ext cx="479530" cy="47953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92790" y="5651672"/>
            <a:ext cx="2164946" cy="669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Testing &amp; Deployment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392790" y="6415946"/>
            <a:ext cx="2164946" cy="7187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Week 19–24: UAT then production go‑live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447" y="4833311"/>
            <a:ext cx="479530" cy="47953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9546" y="7063264"/>
            <a:ext cx="1237130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4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Duration:</a:t>
            </a:r>
            <a:r>
              <a:rPr lang="en-US" sz="14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24 weeks (6 months)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129546" y="7479506"/>
            <a:ext cx="12371308" cy="256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6258E6-06A3-4B99-A31B-3ED1A1188BC0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311"/>
            <a:ext cx="92837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Budget and Cost Justification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73836" y="2985055"/>
            <a:ext cx="13042821" cy="2210889"/>
          </a:xfrm>
          <a:prstGeom prst="roundRect">
            <a:avLst>
              <a:gd name="adj" fmla="val 3641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3086338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224" y="323004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Development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45824" y="3230047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100,000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8224" y="388036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45824" y="3880366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478681" y="380851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28224" y="382649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Deployment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3794374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5000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028224" y="45876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Maintenance (1st Year)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545824" y="458760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5000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95038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Total Estimated Project Cost: 110,000</a:t>
            </a:r>
            <a:endParaRPr lang="en-US" sz="17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1FCC32-FFEF-49A1-AB40-23D5C0A09E21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Shape 11">
            <a:extLst>
              <a:ext uri="{FF2B5EF4-FFF2-40B4-BE49-F238E27FC236}">
                <a16:creationId xmlns:a16="http://schemas.microsoft.com/office/drawing/2014/main" id="{0252EF55-A053-498F-BF67-CE338909214E}"/>
              </a:ext>
            </a:extLst>
          </p:cNvPr>
          <p:cNvSpPr/>
          <p:nvPr/>
        </p:nvSpPr>
        <p:spPr>
          <a:xfrm>
            <a:off x="813743" y="375079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4279" y="675084"/>
            <a:ext cx="6214824" cy="4399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Identifying and Mitigating Project Risks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859680" y="1340154"/>
            <a:ext cx="9714428" cy="364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Implementing a new ERP system involves inherent risks across technical, operational, and data security domains.</a:t>
            </a:r>
          </a:p>
          <a:p>
            <a:pPr marL="0" indent="0" algn="l">
              <a:lnSpc>
                <a:spcPts val="14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Proactive identification and mitigation are crucial for project success and long-term system stability.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16316" y="2081058"/>
            <a:ext cx="3772001" cy="2474184"/>
          </a:xfrm>
          <a:prstGeom prst="roundRect">
            <a:avLst>
              <a:gd name="adj" fmla="val 288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19802" y="2179659"/>
            <a:ext cx="422315" cy="422315"/>
          </a:xfrm>
          <a:prstGeom prst="roundRect">
            <a:avLst>
              <a:gd name="adj" fmla="val 21649919"/>
            </a:avLst>
          </a:prstGeom>
          <a:solidFill>
            <a:srgbClr val="E5E5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1220" y="2341007"/>
            <a:ext cx="190024" cy="1900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64669" y="2762322"/>
            <a:ext cx="1759863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Risks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64669" y="3122890"/>
            <a:ext cx="2883218" cy="91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Difficulty integrating with existing manual processes</a:t>
            </a:r>
          </a:p>
          <a:p>
            <a:pPr algn="l">
              <a:lnSpc>
                <a:spcPts val="1400"/>
              </a:lnSpc>
              <a:buSzPct val="100000"/>
            </a:pPr>
            <a:endParaRPr lang="en-US" sz="13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System performance and scalability issues</a:t>
            </a: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13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Compatibility problems with hardware (e.g., barcode scanners)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49915" y="2161793"/>
            <a:ext cx="4029472" cy="2488771"/>
          </a:xfrm>
          <a:prstGeom prst="roundRect">
            <a:avLst>
              <a:gd name="adj" fmla="val 288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36788" y="2255308"/>
            <a:ext cx="422315" cy="422315"/>
          </a:xfrm>
          <a:prstGeom prst="roundRect">
            <a:avLst>
              <a:gd name="adj" fmla="val 21649919"/>
            </a:avLst>
          </a:prstGeom>
          <a:solidFill>
            <a:srgbClr val="E5E5E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0726" y="2346249"/>
            <a:ext cx="190024" cy="1900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95950" y="2774573"/>
            <a:ext cx="1759863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Operational Risks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716894" y="3283267"/>
            <a:ext cx="2883218" cy="91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Resistance from users adapting to new workflows</a:t>
            </a: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13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Disruptions during data migration and system rollout</a:t>
            </a: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13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Insufficient staff training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9842083" y="2042613"/>
            <a:ext cx="3623647" cy="2669236"/>
          </a:xfrm>
          <a:prstGeom prst="roundRect">
            <a:avLst>
              <a:gd name="adj" fmla="val 2882"/>
            </a:avLst>
          </a:prstGeom>
          <a:solidFill>
            <a:srgbClr val="E8E8E3"/>
          </a:solidFill>
          <a:ln w="7620">
            <a:solidFill>
              <a:srgbClr val="CECEC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0466248" y="2159601"/>
            <a:ext cx="422315" cy="422315"/>
          </a:xfrm>
          <a:prstGeom prst="roundRect">
            <a:avLst>
              <a:gd name="adj" fmla="val 21649919"/>
            </a:avLst>
          </a:prstGeom>
          <a:solidFill>
            <a:srgbClr val="E5E5E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2394" y="2267069"/>
            <a:ext cx="190024" cy="1900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077708" y="2807252"/>
            <a:ext cx="1759863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Security Risks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0212237" y="3303198"/>
            <a:ext cx="2883337" cy="9127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Unauthorized access and data breaches</a:t>
            </a: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13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 loss or corruption during migration or use</a:t>
            </a:r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endParaRPr lang="en-US" sz="1300" dirty="0"/>
          </a:p>
          <a:p>
            <a:pPr marL="342900" indent="-342900" algn="l">
              <a:lnSpc>
                <a:spcPts val="14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Non-compliance with data protection standards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19006" y="4699170"/>
            <a:ext cx="9714428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Effective strategies are essential to manage these potential challenges.</a:t>
            </a:r>
            <a:endParaRPr lang="en-US" sz="13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006" y="5040024"/>
            <a:ext cx="4857155" cy="56304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9739" y="5689817"/>
            <a:ext cx="1759863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Rigorous Testing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59739" y="5979166"/>
            <a:ext cx="4575691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Perform unit, integration, and user acceptance testing (UAT).</a:t>
            </a:r>
            <a:endParaRPr lang="en-US" sz="13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5738" y="5025502"/>
            <a:ext cx="4857274" cy="56304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455813" y="5659049"/>
            <a:ext cx="1923574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Comprehensive Training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7455813" y="5915196"/>
            <a:ext cx="4575810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 hands-on training and ongoing user support.</a:t>
            </a:r>
            <a:endParaRPr lang="en-US" sz="13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9739" y="6377764"/>
            <a:ext cx="4857155" cy="56304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016317" y="7254121"/>
            <a:ext cx="1836658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Data Security &amp; Backup</a:t>
            </a:r>
            <a:endParaRPr lang="en-US" sz="1400" dirty="0"/>
          </a:p>
        </p:txBody>
      </p:sp>
      <p:sp>
        <p:nvSpPr>
          <p:cNvPr id="28" name="Text 20"/>
          <p:cNvSpPr/>
          <p:nvPr/>
        </p:nvSpPr>
        <p:spPr>
          <a:xfrm>
            <a:off x="1016317" y="7562555"/>
            <a:ext cx="4575691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Use encryption, access controls, and regular backups.</a:t>
            </a:r>
            <a:endParaRPr lang="en-US" sz="13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75232" y="6445605"/>
            <a:ext cx="4857274" cy="56304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271651" y="7245435"/>
            <a:ext cx="1865948" cy="219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Phased Implementation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7305087" y="7562555"/>
            <a:ext cx="4575810" cy="1824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the system in stages to reduce disruption and allow improvements.</a:t>
            </a:r>
            <a:endParaRPr lang="en-US" sz="130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8BD5FE4-372F-4138-8D26-9D7AA6E85D47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92567"/>
            <a:ext cx="66232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Inventory &amp; Supply Chain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745581"/>
            <a:ext cx="3978116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 separate inventories for production and stores 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supplier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Stock transfer system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Stock adjustment (handle damage, expiry, missing stocks)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Reorder level and alerts (avoid stock out problem)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773844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2745581"/>
            <a:ext cx="3979545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Inventory report and dashboard (stocks, production, purchase, stock transfer, expiry, supply purchase)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Production plan</a:t>
            </a:r>
            <a:endParaRPr lang="en-US" sz="17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3496" y="2796659"/>
            <a:ext cx="2016204" cy="2307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873496" y="527991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TG/2022/1356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873496" y="5529885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J.M.P.N.Jayaweera</a:t>
            </a:r>
            <a:endParaRPr lang="en-US" sz="175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139426-3BAA-4641-890C-792A1FF3899A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15202"/>
            <a:ext cx="81132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Sales &amp; Customer Management  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8216"/>
            <a:ext cx="6244709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Managing customers 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and billing (POS functionality)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Dual pricing system(retail/wholesale)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Credit sale and payment management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Sales report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Internal usage and monthly summary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524983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903" y="2803988"/>
            <a:ext cx="2306003" cy="2306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33912" y="54085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TG/2022/1379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599520" y="58325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H.P.J.Jayarathna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43DA595-C821-4512-8D40-F1B49575ED58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1644" y="663178"/>
            <a:ext cx="9196149" cy="689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Human Resources (HR) Management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71644" y="1866543"/>
            <a:ext cx="6274594" cy="243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Manage complete employee records within the system.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Recording and monitoring employee attendance on a daily and monthly basis.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Calculate employee salaries based on attendance and approve leaves.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Automate approving employee  leaves.</a:t>
            </a:r>
            <a:endParaRPr lang="en-US" sz="1700" dirty="0"/>
          </a:p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 reporting features to support HR decision making .  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71644" y="4376683"/>
            <a:ext cx="6274594" cy="13915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028700" lvl="2" indent="-342900" algn="l">
              <a:lnSpc>
                <a:spcPts val="2700"/>
              </a:lnSpc>
              <a:buSzPct val="100000"/>
              <a:buFont typeface="+mj-lt"/>
              <a:buAutoNum type="romanLcPeriod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Employee details report</a:t>
            </a:r>
            <a:endParaRPr lang="en-US" sz="1700" dirty="0"/>
          </a:p>
          <a:p>
            <a:pPr marL="1028700" lvl="2" indent="-342900" algn="l">
              <a:lnSpc>
                <a:spcPts val="2700"/>
              </a:lnSpc>
              <a:buSzPct val="100000"/>
              <a:buFont typeface="+mj-lt"/>
              <a:buAutoNum type="romanLcPeriod" startAt="2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Attendance summary report</a:t>
            </a:r>
            <a:endParaRPr lang="en-US" sz="1700" dirty="0"/>
          </a:p>
          <a:p>
            <a:pPr marL="1028700" lvl="2" indent="-342900" algn="l">
              <a:lnSpc>
                <a:spcPts val="2700"/>
              </a:lnSpc>
              <a:buSzPct val="100000"/>
              <a:buFont typeface="+mj-lt"/>
              <a:buAutoNum type="romanLcPeriod" startAt="3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Leave utilization report</a:t>
            </a:r>
            <a:endParaRPr lang="en-US" sz="1700" dirty="0"/>
          </a:p>
          <a:p>
            <a:pPr marL="1028700" lvl="2" indent="-342900" algn="l">
              <a:lnSpc>
                <a:spcPts val="2700"/>
              </a:lnSpc>
              <a:buSzPct val="100000"/>
              <a:buFont typeface="+mj-lt"/>
              <a:buAutoNum type="romanLcPeriod" startAt="4"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Payroll summary report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1644" y="5961068"/>
            <a:ext cx="6274594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1644" y="6501731"/>
            <a:ext cx="6274594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1782" y="1914763"/>
            <a:ext cx="1886426" cy="251519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4162" y="4545574"/>
            <a:ext cx="6274594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TG/2022/1410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91782" y="4912345"/>
            <a:ext cx="6274594" cy="347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G.M.P.K.Premachandra</a:t>
            </a:r>
            <a:endParaRPr lang="en-US" sz="17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7E6221-46F7-483F-B625-A2C45E217677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521" y="723186"/>
            <a:ext cx="5261372" cy="657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Finance &amp; Accounting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6521" y="1849398"/>
            <a:ext cx="6321981" cy="3570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Track and calculate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revenue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expenses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gross profit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 profit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automatically.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Maintain a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comprehensive ledger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all transactions, using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double-entry accounting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principles for balanced books.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Expense Categorization and Tracking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Generate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financial reports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such as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P&amp;L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balance sheet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cash flow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statements on-demand.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Provide reporting features to support HR decision making .  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Create and track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budget vs actual reports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forecast revenue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, and </a:t>
            </a:r>
            <a:r>
              <a:rPr lang="en-US" sz="16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monitor cash flow</a:t>
            </a: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projections.</a:t>
            </a:r>
            <a:endParaRPr lang="en-US" sz="165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Chatbot for Real-Time Data-Driven Business Analysis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736521" y="5595556"/>
            <a:ext cx="632198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36521" y="6095857"/>
            <a:ext cx="632198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         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36521" y="6596157"/>
            <a:ext cx="632198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6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9519" y="1893332"/>
            <a:ext cx="1952506" cy="26033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79519" y="4716304"/>
            <a:ext cx="632198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TG/2022/1383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579519" y="5216604"/>
            <a:ext cx="6321981" cy="324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A.L.S.Chamika</a:t>
            </a:r>
            <a:endParaRPr lang="en-US" sz="16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036AAA-6C81-4D01-9A65-D47AA58FD381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7786"/>
            <a:ext cx="1202971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Effective Communication &amp; Reporting Channels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0193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Clear and consistent communication is essential for the success of the ERP project. Multiple communication channels will be used to keep all stakeholders informed and involved throughout the implementation.</a:t>
            </a:r>
            <a:endParaRPr lang="en-US" sz="17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48114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Physical Meetings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Face-to-face meetings for detailed discussions, planning, and key decision-making.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893" y="348114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35893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Zoom Meetings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5235893" y="482203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Online meetings for remote collaboration, progress updates, and issue resolution.</a:t>
            </a:r>
            <a:endParaRPr lang="en-US" sz="17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77995" y="3481149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77995" y="43316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WhatsApp Group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9677995" y="482203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Quick communication for urgent updates and daily coordination within the project team.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793790" y="616589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Regular reports on project progress, milestones, and budget will be shared through summary documents and presentations to ensure transparency and accountability.</a:t>
            </a:r>
            <a:endParaRPr lang="en-US" sz="17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86929F7-705E-4B2E-9669-9AB4512986DB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61868"/>
            <a:ext cx="90235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&amp; Software Specifications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2427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 ensure optimal performance and seamless integration, the ERP system requires specific hardware and software configurations.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669143"/>
            <a:ext cx="495073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Hardware Requirements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3462933"/>
            <a:ext cx="6244709" cy="36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Development Machines: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Intel Core i5+, 8GB RAM, 256GB SSD, dedicated/integrated graphics, 500GB storage.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Peripherals: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Barcode scanners, fingerprint machines for efficient operations.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Servers: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Intel Xeon equivalent+ with 16GB RAM or higher, configured for load balancing.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Network: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High-speed internet connection for robust connectivity.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Firewall implementation and hardware model-based security measures.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599521" y="2669143"/>
            <a:ext cx="4709398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Software Requirements</a:t>
            </a:r>
            <a:endParaRPr lang="en-US" sz="3550" dirty="0"/>
          </a:p>
        </p:txBody>
      </p:sp>
      <p:sp>
        <p:nvSpPr>
          <p:cNvPr id="7" name="Text 5"/>
          <p:cNvSpPr/>
          <p:nvPr/>
        </p:nvSpPr>
        <p:spPr>
          <a:xfrm>
            <a:off x="7599521" y="3462933"/>
            <a:ext cx="6244709" cy="3629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Operating Systems: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Windows 11 for user machines, Windows Server for backend operations.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Development Tools: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VSCode (IDE) and GitHub (Version Control).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Collaboration &amp; Communication: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ClickUp (Project Management), Zoom, Gmail, Outlook.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Frontend Technologies: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HTML5, CSS3, Bootstrap, JavaScript.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Backend Technologies: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Node.js with Express.js,python.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Database:</a:t>
            </a: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MySQL for reliable data storage.</a:t>
            </a: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97974F1-79CC-4C10-902D-8FAD4BA670B1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6401" y="560567"/>
            <a:ext cx="6985992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Robust Testing and Quality Assurance Framework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845105" y="1363209"/>
            <a:ext cx="869049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Ensuring the ERP system's reliability, performance, and security through comprehensive testing and quality assurance practices.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45105" y="1882917"/>
            <a:ext cx="2519005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Testing Process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4162" y="2437062"/>
            <a:ext cx="219426" cy="21942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40593" y="2339759"/>
            <a:ext cx="4310301" cy="1524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7" name="Text 4"/>
          <p:cNvSpPr/>
          <p:nvPr/>
        </p:nvSpPr>
        <p:spPr>
          <a:xfrm>
            <a:off x="814744" y="2790976"/>
            <a:ext cx="1574363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Unit Testing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5339" y="3123719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Verifying correctness of individual code units.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5105" y="3366975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Jest (JavaScript), </a:t>
            </a:r>
            <a:r>
              <a:rPr lang="en-US" sz="1200" dirty="0" err="1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Pytest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(Python)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90328" y="2426136"/>
            <a:ext cx="219426" cy="21942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280196" y="2308503"/>
            <a:ext cx="4310301" cy="1524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2" name="Text 8"/>
          <p:cNvSpPr/>
          <p:nvPr/>
        </p:nvSpPr>
        <p:spPr>
          <a:xfrm>
            <a:off x="7276853" y="2810471"/>
            <a:ext cx="1574363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Integration Testing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80194" y="3049847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Validating interaction and compatibility between integrated components.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280195" y="3299103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Selenium (for end-to-end flows)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9041" y="3788629"/>
            <a:ext cx="242017" cy="242017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64161" y="3672619"/>
            <a:ext cx="4310301" cy="1524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17" name="Text 12"/>
          <p:cNvSpPr/>
          <p:nvPr/>
        </p:nvSpPr>
        <p:spPr>
          <a:xfrm>
            <a:off x="845104" y="4152252"/>
            <a:ext cx="1574363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Testing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64162" y="4400014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Evaluating the entire system against specified requirements.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64160" y="4589235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Project-specific testing frameworks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350085" y="3627477"/>
            <a:ext cx="4310301" cy="15240"/>
          </a:xfrm>
          <a:prstGeom prst="rect">
            <a:avLst/>
          </a:prstGeom>
          <a:solidFill>
            <a:srgbClr val="E5E5E0"/>
          </a:solidFill>
          <a:ln/>
        </p:spPr>
      </p:sp>
      <p:sp>
        <p:nvSpPr>
          <p:cNvPr id="22" name="Text 16"/>
          <p:cNvSpPr/>
          <p:nvPr/>
        </p:nvSpPr>
        <p:spPr>
          <a:xfrm>
            <a:off x="7315200" y="3871264"/>
            <a:ext cx="2185511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Acceptance Testing (UAT)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05769" y="4280740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Ensuring the system meets user expectations and requirements.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405769" y="4525553"/>
            <a:ext cx="4310301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Manual testing by users, automated scripts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3433762" y="5130270"/>
            <a:ext cx="3208258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Quality Assurance Initiatives</a:t>
            </a:r>
            <a:endParaRPr lang="en-US" sz="19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1641" y="5288384"/>
            <a:ext cx="314801" cy="31480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18068" y="5702059"/>
            <a:ext cx="1574363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736401" y="5981680"/>
            <a:ext cx="4301490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Peer review of code to identify defects and improve quality.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6401" y="6190928"/>
            <a:ext cx="4301490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2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GitHub, Bitbucket, GitLab</a:t>
            </a:r>
            <a:endParaRPr lang="en-US" sz="120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90328" y="5310665"/>
            <a:ext cx="314801" cy="31480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7315200" y="5734727"/>
            <a:ext cx="1631275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Continuous Integration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7276853" y="6046836"/>
            <a:ext cx="4301609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Automating build and test processes for frequent updates.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7317854" y="6338380"/>
            <a:ext cx="4301609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Jenkins, Travis CI, GitHub Actions</a:t>
            </a:r>
            <a:endParaRPr lang="en-US" sz="13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16474" y="6649448"/>
            <a:ext cx="314801" cy="31480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17284" y="7164109"/>
            <a:ext cx="1574363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Performance Testing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736401" y="7403885"/>
            <a:ext cx="4301490" cy="198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Assessing system responsiveness and stability under load.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736401" y="7646053"/>
            <a:ext cx="4301490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9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Apache JMeter, Gatling</a:t>
            </a:r>
            <a:endParaRPr lang="en-US" sz="95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4940" y="6744969"/>
            <a:ext cx="314801" cy="314801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358777" y="7140081"/>
            <a:ext cx="1574363" cy="19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 Testing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7358777" y="7516654"/>
            <a:ext cx="4301609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Identifying vulnerabilities and ensuring data protection.</a:t>
            </a:r>
            <a:endParaRPr lang="en-US" sz="1300" dirty="0"/>
          </a:p>
        </p:txBody>
      </p:sp>
      <p:sp>
        <p:nvSpPr>
          <p:cNvPr id="41" name="Text 31"/>
          <p:cNvSpPr/>
          <p:nvPr/>
        </p:nvSpPr>
        <p:spPr>
          <a:xfrm>
            <a:off x="7317854" y="7852711"/>
            <a:ext cx="4301609" cy="156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Tools:</a:t>
            </a:r>
            <a:r>
              <a:rPr lang="en-US" sz="130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OWASP ZAP</a:t>
            </a:r>
            <a:endParaRPr lang="en-US" sz="13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20DE201-3C88-4D0E-BBAD-23B74BDC6342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0528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4676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The implementation of the Shanel ERP system represents a transformative investment in operational excellence. By automating sales, inventory, HR, and supply chain management, Shanel Products will achieve: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448645"/>
            <a:ext cx="13042821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Streamlined operations and reduced manual errors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Real-time visibility across all business functions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Improved decision-making through comprehensive reporting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Enhanced employee productivity and customer satisfaction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Sustainable growth and competitive advantage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518419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This comprehensive project plan—covering vision, scope, methodology, timeline, and risk management—provides a clear roadmap for successful implementation. With proper execution and stakeholder commitment, the ERP system will position Shanel Products for long-term success and market leadership.</a:t>
            </a:r>
            <a:endParaRPr lang="en-US" sz="17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7E95D-7F7C-4ED0-882E-2FEE42A4C072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6770" y="671393"/>
            <a:ext cx="4013240" cy="501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1776770" y="1400175"/>
            <a:ext cx="1107674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ERP System Best Practices and Industry Standards</a:t>
            </a:r>
            <a:endParaRPr lang="en-US" sz="1250" dirty="0"/>
          </a:p>
        </p:txBody>
      </p:sp>
      <p:pic>
        <p:nvPicPr>
          <p:cNvPr id="4" name="Image 0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6770" y="1747123"/>
            <a:ext cx="11076742" cy="162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76770" y="3495437"/>
            <a:ext cx="1107674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2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Project Management Institute (PMI) Guidelines for Implementation</a:t>
            </a:r>
            <a:endParaRPr lang="en-US" sz="1250" dirty="0"/>
          </a:p>
        </p:txBody>
      </p:sp>
      <p:pic>
        <p:nvPicPr>
          <p:cNvPr id="6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770" y="3842385"/>
            <a:ext cx="11076742" cy="16205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76770" y="5590699"/>
            <a:ext cx="11076742" cy="219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Font typeface="+mj-lt"/>
              <a:buAutoNum type="arabicPeriod" startAt="3"/>
            </a:pPr>
            <a:r>
              <a:rPr lang="en-US" sz="1250" dirty="0">
                <a:solidFill>
                  <a:srgbClr val="272525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Agile Development Methodology Framework</a:t>
            </a:r>
            <a:endParaRPr lang="en-US" sz="1250" dirty="0"/>
          </a:p>
        </p:txBody>
      </p:sp>
      <p:pic>
        <p:nvPicPr>
          <p:cNvPr id="8" name="Image 2" descr="preencoded.png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6770" y="5937647"/>
            <a:ext cx="11076742" cy="16205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EF3A42-44A5-4FB9-95A1-8D539C284EBB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340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793790" y="21414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5951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462576"/>
            <a:ext cx="13042821" cy="2126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700"/>
              </a:lnSpc>
              <a:buNone/>
            </a:pPr>
            <a:r>
              <a:rPr lang="en-US" sz="13350" dirty="0">
                <a:solidFill>
                  <a:srgbClr val="312F2B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Thank You!</a:t>
            </a:r>
            <a:endParaRPr lang="en-US" sz="13350" dirty="0"/>
          </a:p>
        </p:txBody>
      </p:sp>
      <p:sp>
        <p:nvSpPr>
          <p:cNvPr id="6" name="Text 4"/>
          <p:cNvSpPr/>
          <p:nvPr/>
        </p:nvSpPr>
        <p:spPr>
          <a:xfrm>
            <a:off x="793790" y="59291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654724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79AA57-A9AC-4D2D-83DB-6DCB6906D0CE}"/>
              </a:ext>
            </a:extLst>
          </p:cNvPr>
          <p:cNvSpPr/>
          <p:nvPr/>
        </p:nvSpPr>
        <p:spPr>
          <a:xfrm>
            <a:off x="12726296" y="7648687"/>
            <a:ext cx="1828800" cy="5054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1977</Words>
  <Application>Microsoft Office PowerPoint</Application>
  <PresentationFormat>Custom</PresentationFormat>
  <Paragraphs>290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Gelasio</vt:lpstr>
      <vt:lpstr>Lato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sahan chamika</dc:creator>
  <cp:lastModifiedBy>sahan chamika</cp:lastModifiedBy>
  <cp:revision>7</cp:revision>
  <dcterms:created xsi:type="dcterms:W3CDTF">2026-01-29T16:08:29Z</dcterms:created>
  <dcterms:modified xsi:type="dcterms:W3CDTF">2026-01-29T16:59:29Z</dcterms:modified>
</cp:coreProperties>
</file>